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인사이트 2" id="{9447202f-2fdc-10bb-7d21-7351d2afeafa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 변화</c:v>
                </c:pt>
              </c:strCache>
            </c:strRef>
          </c:tx>
          <c:spPr>
            <a:solidFill>
              <a:srgbClr val="D9622B"/>
            </a:solidFill>
            <a:effectLst/>
          </c:spPr>
          <c:invertIfNegative val="0"/>
          <c:dLbls>
            <c:numFmt formatCode="+0%;-0%;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2B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62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5CBD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5CBD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9A27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5CBD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5CBD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5CBD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5CBD1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C5CBD1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C5CBD1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C5CBD1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C5CBD1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야외·레저</c:v>
                  </c:pt>
                  <c:pt idx="1">
                    <c:v>가정·내구재</c:v>
                  </c:pt>
                  <c:pt idx="2">
                    <c:v>패션·뷰티소매</c:v>
                  </c:pt>
                  <c:pt idx="3">
                    <c:v>숙박·여행</c:v>
                  </c:pt>
                  <c:pt idx="4">
                    <c:v>차량·교통</c:v>
                  </c:pt>
                  <c:pt idx="5">
                    <c:v>교육</c:v>
                  </c:pt>
                  <c:pt idx="6">
                    <c:v>주점·유흥</c:v>
                  </c:pt>
                  <c:pt idx="7">
                    <c:v>의료</c:v>
                  </c:pt>
                  <c:pt idx="8">
                    <c:v>외식</c:v>
                  </c:pt>
                  <c:pt idx="9">
                    <c:v>미용·생활서비스</c:v>
                  </c:pt>
                  <c:pt idx="10">
                    <c:v>문화·취미</c:v>
                  </c:pt>
                  <c:pt idx="11">
                    <c:v>생활소매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-0.40354977463745567</c:v>
                </c:pt>
                <c:pt idx="1">
                  <c:v>-0.18355905369828074</c:v>
                </c:pt>
                <c:pt idx="2">
                  <c:v>-0.18035707578467852</c:v>
                </c:pt>
                <c:pt idx="3">
                  <c:v>-0.12163877310831672</c:v>
                </c:pt>
                <c:pt idx="4">
                  <c:v>-0.10883630423466872</c:v>
                </c:pt>
                <c:pt idx="5">
                  <c:v>-0.10567312781853788</c:v>
                </c:pt>
                <c:pt idx="6">
                  <c:v>-0.10200295131504422</c:v>
                </c:pt>
                <c:pt idx="7">
                  <c:v>-0.09312071284984913</c:v>
                </c:pt>
                <c:pt idx="8">
                  <c:v>-0.0712932762879972</c:v>
                </c:pt>
                <c:pt idx="9">
                  <c:v>-0.06886303890805034</c:v>
                </c:pt>
                <c:pt idx="10">
                  <c:v>-0.05716705441767411</c:v>
                </c:pt>
                <c:pt idx="11">
                  <c:v>-0.04977892788000471</c:v>
                </c:pt>
              </c:numCache>
            </c:numRef>
          </c:val>
        </c:ser>
        <c:dLbls>
          <c:numFmt formatCode="+0%;-0%;0%" sourceLinked="0"/>
          <c:txPr>
            <a:bodyPr/>
            <a:lstStyle/>
            <a:p>
              <a:pPr>
                <a:defRPr b="0" i="0" strike="noStrike" sz="1100" u="none">
                  <a:solidFill>
                    <a:srgbClr val="1D2B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D2B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0.5"/>
        </c:scaling>
        <c:delete val="0"/>
        <c:axPos val="b"/>
        <c:majorGridlines>
          <c:spPr>
            <a:ln w="9525" cap="flat">
              <a:solidFill>
                <a:srgbClr val="E3E7EA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7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비 온 당일</c:v>
                </c:pt>
              </c:strCache>
            </c:strRef>
          </c:tx>
          <c:spPr>
            <a:solidFill>
              <a:srgbClr val="2F6FA8"/>
            </a:solidFill>
            <a:effectLst/>
          </c:spPr>
          <c:invertIfNegative val="0"/>
          <c:dLbls>
            <c:numFmt formatCode="+0.0%;-0.0%;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2B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야외·레저</c:v>
                  </c:pt>
                  <c:pt idx="1">
                    <c:v>숙박·여행</c:v>
                  </c:pt>
                  <c:pt idx="2">
                    <c:v>외식</c:v>
                  </c:pt>
                  <c:pt idx="3">
                    <c:v>생활소매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-0.4039404278238409</c:v>
                </c:pt>
                <c:pt idx="1">
                  <c:v>-0.15492847573728818</c:v>
                </c:pt>
                <c:pt idx="2">
                  <c:v>-0.0749351835080222</c:v>
                </c:pt>
                <c:pt idx="3">
                  <c:v>-0.04828349641967111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3일 뒤까지 누적</c:v>
                </c:pt>
              </c:strCache>
            </c:strRef>
          </c:tx>
          <c:spPr>
            <a:solidFill>
              <a:srgbClr val="D9622B"/>
            </a:solidFill>
            <a:effectLst/>
          </c:spPr>
          <c:invertIfNegative val="0"/>
          <c:dLbls>
            <c:numFmt formatCode="+0.0%;-0.0%;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2B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야외·레저</c:v>
                  </c:pt>
                  <c:pt idx="1">
                    <c:v>숙박·여행</c:v>
                  </c:pt>
                  <c:pt idx="2">
                    <c:v>외식</c:v>
                  </c:pt>
                  <c:pt idx="3">
                    <c:v>생활소매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-0.3716249617796519</c:v>
                </c:pt>
                <c:pt idx="1">
                  <c:v>-0.37915926937513733</c:v>
                </c:pt>
                <c:pt idx="2">
                  <c:v>-0.08130496968221601</c:v>
                </c:pt>
                <c:pt idx="3">
                  <c:v>-0.0051494268278160504</c:v>
                </c:pt>
              </c:numCache>
            </c:numRef>
          </c:val>
        </c:ser>
        <c:dLbls>
          <c:numFmt formatCode="+0.0%;-0.0%;0%" sourceLinked="0"/>
          <c:txPr>
            <a:bodyPr/>
            <a:lstStyle/>
            <a:p>
              <a:pPr>
                <a:defRPr b="0" i="0" strike="noStrike" sz="1100" u="none">
                  <a:solidFill>
                    <a:srgbClr val="1D2B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high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D2B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5"/>
          <c:min val="-0.5"/>
        </c:scaling>
        <c:delete val="0"/>
        <c:axPos val="l"/>
        <c:majorGridlines>
          <c:spPr>
            <a:ln w="9525" cap="flat">
              <a:solidFill>
                <a:srgbClr val="E3E7EA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7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D2B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 변화</c:v>
                </c:pt>
              </c:strCache>
            </c:strRef>
          </c:tx>
          <c:spPr>
            <a:solidFill>
              <a:srgbClr val="D9622B"/>
            </a:solidFill>
            <a:effectLst/>
          </c:spPr>
          <c:invertIfNegative val="0"/>
          <c:dLbls>
            <c:numFmt formatCode="+0%;-0%;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2B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962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62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62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5CBD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5CBD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5CBD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5CBD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F6FA8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골프장(실내·실외)</c:v>
                  </c:pt>
                  <c:pt idx="1">
                    <c:v>고속버스·철도·여객선</c:v>
                  </c:pt>
                  <c:pt idx="2">
                    <c:v>레저타운·놀이동산</c:v>
                  </c:pt>
                  <c:pt idx="3">
                    <c:v>호텔·콘도</c:v>
                  </c:pt>
                  <c:pt idx="4">
                    <c:v>헬스장</c:v>
                  </c:pt>
                  <c:pt idx="5">
                    <c:v>모텔·여관</c:v>
                  </c:pt>
                  <c:pt idx="6">
                    <c:v>스포츠시설</c:v>
                  </c:pt>
                  <c:pt idx="7">
                    <c:v>사우나·목욕탕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-0.5774015198658221</c:v>
                </c:pt>
                <c:pt idx="1">
                  <c:v>-0.4681697181400535</c:v>
                </c:pt>
                <c:pt idx="2">
                  <c:v>-0.4544400185203976</c:v>
                </c:pt>
                <c:pt idx="3">
                  <c:v>-0.2083166675568432</c:v>
                </c:pt>
                <c:pt idx="4">
                  <c:v>-0.04237753951732115</c:v>
                </c:pt>
                <c:pt idx="5">
                  <c:v>-0.0180034365442292</c:v>
                </c:pt>
                <c:pt idx="6">
                  <c:v>0.059697338529853816</c:v>
                </c:pt>
                <c:pt idx="7">
                  <c:v>0.20485947001309013</c:v>
                </c:pt>
              </c:numCache>
            </c:numRef>
          </c:val>
        </c:ser>
        <c:dLbls>
          <c:numFmt formatCode="+0%;-0%;0%" sourceLinked="0"/>
          <c:txPr>
            <a:bodyPr/>
            <a:lstStyle/>
            <a:p>
              <a:pPr>
                <a:defRPr b="0" i="0" strike="noStrike" sz="1100" u="none">
                  <a:solidFill>
                    <a:srgbClr val="1D2B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D2B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"/>
          <c:min val="-0.7"/>
        </c:scaling>
        <c:delete val="0"/>
        <c:axPos val="b"/>
        <c:majorGridlines>
          <c:spPr>
            <a:ln w="9525" cap="flat">
              <a:solidFill>
                <a:srgbClr val="E3E7EA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7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강원 고객</c:v>
                </c:pt>
              </c:strCache>
            </c:strRef>
          </c:tx>
          <c:spPr>
            <a:solidFill>
              <a:srgbClr val="2F6FA8"/>
            </a:solidFill>
            <a:effectLst/>
          </c:spPr>
          <c:invertIfNegative val="0"/>
          <c:dLbls>
            <c:numFmt formatCode="+0%;-0%;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2B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골프장(실내·실외)</c:v>
                  </c:pt>
                  <c:pt idx="1">
                    <c:v>레저타운·놀이동산</c:v>
                  </c:pt>
                  <c:pt idx="2">
                    <c:v>사우나·목욕탕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-0.43641939589086187</c:v>
                </c:pt>
                <c:pt idx="1">
                  <c:v>-0.46075302762575554</c:v>
                </c:pt>
                <c:pt idx="2">
                  <c:v>0.15397808279826797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외지 고객</c:v>
                </c:pt>
              </c:strCache>
            </c:strRef>
          </c:tx>
          <c:spPr>
            <a:solidFill>
              <a:srgbClr val="D9622B"/>
            </a:solidFill>
            <a:effectLst/>
          </c:spPr>
          <c:invertIfNegative val="0"/>
          <c:dLbls>
            <c:numFmt formatCode="+0%;-0%;0%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D2B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골프장(실내·실외)</c:v>
                  </c:pt>
                  <c:pt idx="1">
                    <c:v>레저타운·놀이동산</c:v>
                  </c:pt>
                  <c:pt idx="2">
                    <c:v>사우나·목욕탕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-0.6229873257044534</c:v>
                </c:pt>
                <c:pt idx="1">
                  <c:v>-0.4456504531843808</c:v>
                </c:pt>
                <c:pt idx="2">
                  <c:v>0.4749719799669989</c:v>
                </c:pt>
              </c:numCache>
            </c:numRef>
          </c:val>
        </c:ser>
        <c:dLbls>
          <c:numFmt formatCode="+0%;-0%;0%" sourceLinked="0"/>
          <c:txPr>
            <a:bodyPr/>
            <a:lstStyle/>
            <a:p>
              <a:pPr>
                <a:defRPr b="0" i="0" strike="noStrike" sz="1100" u="none">
                  <a:solidFill>
                    <a:srgbClr val="1D2B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D2B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-0.8"/>
        </c:scaling>
        <c:delete val="0"/>
        <c:axPos val="l"/>
        <c:majorGridlines>
          <c:spPr>
            <a:ln w="9525" cap="flat">
              <a:solidFill>
                <a:srgbClr val="E3E7EA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7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D2B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인사이트 1에서 비가 오면 춘천 상권 전체 매출이 줄어든다는 걸 봤습니다. 이번에는 '어떤 업종이 가장 약한가'입니다. 결론부터 말씀드리면, 야외·레저는 비 오는 당일 매출이 40% 줄어 업종 중 가장 크게 떨어지고, 숙박은 비 온 뒤 사흘에 걸쳐 손실이 쌓입니다. 반대로 생활소매는 다음 날 장보기로 손실을 거의 다 메웁니다.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분석에 쓴 컬럼과 이유입니다. 날짜(TA_YMD)로 기상과 연결하고, 업종(MCT_RY_CD)으로 업종을 비교했고, 결제금액(TS_AT)으로 피해를 금액 기준으로 봤습니다. 데이터2의 고객 거주지(CLN_SGG_CD)로 외지 관광객과 강원 고객을 나눴습니다. 비 피해율은 비가 10mm 넘게 온 날 매출이 비 안 온 날보다 얼마나 낮은지입니다. 같은 주, 요일, 공휴일, 폭염 효과는 빼고 비교했습니다. 회복은 비 온 뒤 1~3일까지의 효과를 더한 누적값으로 봤습니다.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업종군 12개를 비교한 결과입니다. 비가 10mm 넘게 오는 날 야외·레저 매출은 40% 줄어, 다른 업종보다 압도적으로 큽니다. 95% 신뢰구간도 -47% ~ -33%로 확실합니다. 춘천 매출의 절반을 차지하는 외식과 생활소매는 5~7% 정도 줄어듭니다. 숙박·여행은 당일 -12%로 통계적으로는 불확실한데, 다음 장에서 보듯 비 온 뒤 며칠에 걸쳐 손실이 커집니다.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 온 뒤 회복을 본 장입니다. 파란 막대는 비 온 당일, 주황 막대는 그 뒤 사흘까지 더한 누적 변화입니다. 생활소매는 당일 5% 줄지만 다음 날 장보기로 거의 다 메워 누적으로는 0에 가깝습니다. 손님이 날짜만 미룬 겁니다. 야외·레저는 당일 40% 빠진 뒤 그대로입니다. 비 때문에 취소한 골프나 나들이는 다시 오지 않는다는 뜻입니다. 숙박·여행은 당일보다 그 뒤가 더 나빠 누적 38% 감소입니다. 비 예보로 이어지는 예약 취소로 보입니다. 그래서 레저와 숙박은 손실이 사라지는 업종, 즉 지원이 필요한 업종입니다.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레저와 숙박 안을 업종별로 쪼갠 결과입니다. 주황은 뚜렷하게 줄어든 업종, 회색은 차이가 불확실한 업종, 파랑은 뚜렷하게 늘어난 업종입니다. 골프장은 58%, 고속버스·철도는 47%, 레저타운·놀이동산은 45% 줄었습니다. 세 업종 모두 외지 고객 비중이 80% 안팎입니다. 반대로 헬스장과 스포츠시설처럼 동네 주민이 쓰는 곳은 비의 영향이 없습니다. 사우나는 오히려 20% 늘었습니다. 비가 오면 관광객이 아예 안 오는 게 아니라 실내로 옮겨 간다는 신호입니다. 호텔·콘도도 21% 줄었지만 결제가 들쭉날쭉해 통계적으로는 불확실합니다. 숙박은 앱 선결제가 데이터에서 빠지는 한계도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업종 안에서 고객이 어디 사는지에 따라 나눠 봤습니다. 골프장은 강원 고객이 -44%, 외지 고객이 -62%로 외지 관광객이 더 크게 빠집니다. 레저타운·놀이동산은 둘 다 45% 정도 줄었는데, 애초에 고객 80%가 외지인입니다. 사우나는 외지 고객 매출이 +47% 늘었습니다. 비 오는 날 춘천에 온 관광객이 실내 시설로 옮겨 간 겁니다. 결국 레저 피해는 외지 관광객이 비 때문에 일정을 취소하거나 바꾸는 문제이고, 실내로 붙잡을 여지도 있다는 뜻입니다.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정리하겠습니다. 춘천에서 비에 가장 약한 상권은 두 곳입니다. 야외·레저는 비 오는 당일 40% 빠지는 충격이 가장 크고, 숙박은 당일보다 그 뒤 사흘에 걸쳐 손실이 쌓여 회복하지 못합니다. 원인은 외지 관광객이 비 때문에 오지 않는 데 있고, 비가 와도 실내로 옮겨 가는 관광객이 있다는 점은 대책의 실마리입니다. 다음 장 AI 모델에서는 이 두 업종의 매출 감소와 회복을 예측하고, 정책 제안에서는 관광객을 다시 오게 하는 방법을 다룹니다. 한계로, 숙박은 앱 선결제가 데이터에서 빠지고, 기간이 6개월이며, 업종군 전체로 보면 외지인 비중과 피해의 관계는 뚜렷하지 않아 레저·숙박 안에서만 주장합니다.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53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371600"/>
            <a:ext cx="106984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8D6DF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인사이트 2 · 레저·숙박의 비 피해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0"/>
                </a:solidFill>
              </a:rPr>
              <a:t>자료: 신한카드 춘천 개인 결제(2025.7~12, 상권 업종), 기상청 ASOS 춘천 · 주·요일·공휴일·폭염 통제 회귀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37160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춘천 레저·숙박은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비 오는 날 가장 약한 상권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dirty="0">
                <a:solidFill>
                  <a:srgbClr val="C8D6DF"/>
                </a:solidFill>
              </a:rPr>
              <a:t>인사이트 2 · 업종별 비 피해와 회복</a:t>
            </a:r>
            <a:endParaRPr lang="en-US" sz="2000" dirty="0"/>
          </a:p>
        </p:txBody>
      </p:sp>
      <p:sp>
        <p:nvSpPr>
          <p:cNvPr id="4" name="stat card 1"/>
          <p:cNvSpPr/>
          <p:nvPr/>
        </p:nvSpPr>
        <p:spPr>
          <a:xfrm>
            <a:off x="731520" y="4434840"/>
            <a:ext cx="3291840" cy="1417320"/>
          </a:xfrm>
          <a:prstGeom prst="roundRect">
            <a:avLst>
              <a:gd name="adj" fmla="val 7742"/>
            </a:avLst>
          </a:prstGeom>
          <a:solidFill>
            <a:srgbClr val="1F4252"/>
          </a:solidFill>
          <a:ln w="12700">
            <a:solidFill>
              <a:srgbClr val="1F42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455371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8A57"/>
                </a:solidFill>
              </a:rPr>
              <a:t>-40%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52303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E6EC"/>
                </a:solidFill>
              </a:rPr>
              <a:t>야외·레저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E6EC"/>
                </a:solidFill>
              </a:rPr>
              <a:t>비 10mm+ 날 매출 변화</a:t>
            </a:r>
            <a:endParaRPr lang="en-US" sz="1300" dirty="0"/>
          </a:p>
        </p:txBody>
      </p:sp>
      <p:sp>
        <p:nvSpPr>
          <p:cNvPr id="7" name="stat card 2"/>
          <p:cNvSpPr/>
          <p:nvPr/>
        </p:nvSpPr>
        <p:spPr>
          <a:xfrm>
            <a:off x="4297680" y="4434840"/>
            <a:ext cx="3291840" cy="1417320"/>
          </a:xfrm>
          <a:prstGeom prst="roundRect">
            <a:avLst>
              <a:gd name="adj" fmla="val 7742"/>
            </a:avLst>
          </a:prstGeom>
          <a:solidFill>
            <a:srgbClr val="1F4252"/>
          </a:solidFill>
          <a:ln w="12700">
            <a:solidFill>
              <a:srgbClr val="1F425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455371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8A57"/>
                </a:solidFill>
              </a:rPr>
              <a:t>-38%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52303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E6EC"/>
                </a:solidFill>
              </a:rPr>
              <a:t>숙박·여행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E6EC"/>
                </a:solidFill>
              </a:rPr>
              <a:t>비 온 뒤 3일 누적 변화</a:t>
            </a:r>
            <a:endParaRPr lang="en-US" sz="1300" dirty="0"/>
          </a:p>
        </p:txBody>
      </p:sp>
      <p:sp>
        <p:nvSpPr>
          <p:cNvPr id="10" name="stat card 3"/>
          <p:cNvSpPr/>
          <p:nvPr/>
        </p:nvSpPr>
        <p:spPr>
          <a:xfrm>
            <a:off x="7863840" y="4434840"/>
            <a:ext cx="3291840" cy="1417320"/>
          </a:xfrm>
          <a:prstGeom prst="roundRect">
            <a:avLst>
              <a:gd name="adj" fmla="val 7742"/>
            </a:avLst>
          </a:prstGeom>
          <a:solidFill>
            <a:srgbClr val="1F4252"/>
          </a:solidFill>
          <a:ln w="12700">
            <a:solidFill>
              <a:srgbClr val="1F425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455371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CC3E6"/>
                </a:solidFill>
              </a:rPr>
              <a:t>-0.5%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52303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E6EC"/>
                </a:solidFill>
              </a:rPr>
              <a:t>생활소매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E6EC"/>
                </a:solidFill>
              </a:rPr>
              <a:t>3일 누적: 다음 날 회복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어떤 컬럼으로, 어떻게 비교했나</a:t>
            </a:r>
            <a:endParaRPr lang="en-US" sz="3000" dirty="0"/>
          </a:p>
        </p:txBody>
      </p:sp>
      <p:graphicFrame>
        <p:nvGraphicFramePr>
          <p:cNvPr id="3" name="colum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70408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3200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컬럼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의미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이 분석에서 쓴 이유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03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B33"/>
                          </a:solidFill>
                        </a:rPr>
                        <a:t>TA_YMD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B33"/>
                          </a:solidFill>
                        </a:rPr>
                        <a:t>결제일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B33"/>
                          </a:solidFill>
                        </a:rPr>
                        <a:t>일별 기상 관측과 날짜로 1:1 연결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B33"/>
                          </a:solidFill>
                        </a:rPr>
                        <a:t>MCT_RY_CD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B33"/>
                          </a:solidFill>
                        </a:rPr>
                        <a:t>가맹점 업종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B33"/>
                          </a:solidFill>
                        </a:rPr>
                        <a:t>업종군 12개, 레저·숙박 세부 업종 9개를 직접 비교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B33"/>
                          </a:solidFill>
                        </a:rPr>
                        <a:t>TS_AT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B33"/>
                          </a:solidFill>
                        </a:rPr>
                        <a:t>결제 금액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B33"/>
                          </a:solidFill>
                        </a:rPr>
                        <a:t>피해를 매출 금액으로 보기 위해 사용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B33"/>
                          </a:solidFill>
                        </a:rPr>
                        <a:t>CLN_SGG_CD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B33"/>
                          </a:solidFill>
                        </a:rPr>
                        <a:t>고객 거주 시도 (데이터2)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B33"/>
                          </a:solidFill>
                        </a:rPr>
                        <a:t>외지 관광객과 강원 고객을 나눠 누가 빠지는지 확인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B33"/>
                          </a:solidFill>
                        </a:rPr>
                        <a:t>일강수량 · 최고기온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B33"/>
                          </a:solidFill>
                        </a:rPr>
                        <a:t>기상청 ASOS 춘천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B33"/>
                          </a:solidFill>
                        </a:rPr>
                        <a:t>비 10mm+ 여부, 폭염 날 통제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25780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80"/>
                </a:solidFill>
              </a:rPr>
              <a:t>법인 결제와 비상권 업종 13개는 제외 (전처리 장 참고)</a:t>
            </a:r>
            <a:endParaRPr lang="en-US" sz="1200" dirty="0"/>
          </a:p>
        </p:txBody>
      </p:sp>
      <p:sp>
        <p:nvSpPr>
          <p:cNvPr id="5" name="definition card"/>
          <p:cNvSpPr/>
          <p:nvPr/>
        </p:nvSpPr>
        <p:spPr>
          <a:xfrm>
            <a:off x="8046720" y="1691640"/>
            <a:ext cx="3611880" cy="3886200"/>
          </a:xfrm>
          <a:prstGeom prst="roundRect">
            <a:avLst>
              <a:gd name="adj" fmla="val 2532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6" name="step 1"/>
          <p:cNvSpPr/>
          <p:nvPr/>
        </p:nvSpPr>
        <p:spPr>
          <a:xfrm>
            <a:off x="8275320" y="1920240"/>
            <a:ext cx="457200" cy="457200"/>
          </a:xfrm>
          <a:prstGeom prst="ellipse">
            <a:avLst/>
          </a:prstGeom>
          <a:solidFill>
            <a:srgbClr val="D9622B"/>
          </a:solidFill>
          <a:ln w="12700">
            <a:solidFill>
              <a:srgbClr val="D9622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753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915400" y="187452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B33"/>
                </a:solidFill>
              </a:rPr>
              <a:t>비 피해율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D2B33"/>
                </a:solidFill>
              </a:rPr>
              <a:t>비 10mm+ 온 날의 매출 변화 (비 안 온 날 대비)</a:t>
            </a:r>
            <a:endParaRPr lang="en-US" sz="1500" dirty="0"/>
          </a:p>
        </p:txBody>
      </p:sp>
      <p:sp>
        <p:nvSpPr>
          <p:cNvPr id="9" name="step 2"/>
          <p:cNvSpPr/>
          <p:nvPr/>
        </p:nvSpPr>
        <p:spPr>
          <a:xfrm>
            <a:off x="8275320" y="3108960"/>
            <a:ext cx="457200" cy="457200"/>
          </a:xfrm>
          <a:prstGeom prst="ellipse">
            <a:avLst/>
          </a:prstGeom>
          <a:solidFill>
            <a:srgbClr val="D9622B"/>
          </a:solidFill>
          <a:ln w="12700">
            <a:solidFill>
              <a:srgbClr val="D962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753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915400" y="30632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B33"/>
                </a:solidFill>
              </a:rPr>
              <a:t>같이 통제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D2B33"/>
                </a:solidFill>
              </a:rPr>
              <a:t>같은 주 · 요일 · 공휴일(추석 연휴) · 폭염</a:t>
            </a:r>
            <a:endParaRPr lang="en-US" sz="1500" dirty="0"/>
          </a:p>
        </p:txBody>
      </p:sp>
      <p:sp>
        <p:nvSpPr>
          <p:cNvPr id="12" name="step 3"/>
          <p:cNvSpPr/>
          <p:nvPr/>
        </p:nvSpPr>
        <p:spPr>
          <a:xfrm>
            <a:off x="8275320" y="4297680"/>
            <a:ext cx="457200" cy="457200"/>
          </a:xfrm>
          <a:prstGeom prst="ellipse">
            <a:avLst/>
          </a:prstGeom>
          <a:solidFill>
            <a:srgbClr val="D9622B"/>
          </a:solidFill>
          <a:ln w="12700">
            <a:solidFill>
              <a:srgbClr val="D9622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7532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915400" y="425196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B33"/>
                </a:solidFill>
              </a:rPr>
              <a:t>회복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D2B33"/>
                </a:solidFill>
              </a:rPr>
              <a:t>비 온 뒤 1~3일 효과까지 더한 누적 변화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비 오는 날 야외·레저 매출 40% 감소, 업종 중 최대</a:t>
            </a:r>
            <a:endParaRPr lang="en-US" sz="3000" dirty="0"/>
          </a:p>
        </p:txBody>
      </p:sp>
      <p:sp>
        <p:nvSpPr>
          <p:cNvPr id="3" name="chart caption"/>
          <p:cNvSpPr txBox="1"/>
          <p:nvPr/>
        </p:nvSpPr>
        <p:spPr>
          <a:xfrm>
            <a:off x="548640" y="160020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B33"/>
                </a:solidFill>
              </a:rPr>
              <a:t>업종군별 비 10mm+ 날 매출 변화 (비 안 온 날 대비)</a:t>
            </a:r>
            <a:endParaRPr lang="en-US" sz="1300" dirty="0"/>
          </a:p>
        </p:txBody>
      </p:sp>
      <p:graphicFrame>
        <p:nvGraphicFramePr>
          <p:cNvPr id="4" name="group rain chart" descr=""/>
          <p:cNvGraphicFramePr/>
          <p:nvPr/>
        </p:nvGraphicFramePr>
        <p:xfrm>
          <a:off x="457200" y="1920240"/>
          <a:ext cx="73152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0" y="17830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D9622B"/>
                </a:solidFill>
              </a:rPr>
              <a:t>-40%</a:t>
            </a:r>
            <a:endParaRPr lang="en-US" sz="64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278892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B33"/>
                </a:solidFill>
              </a:rPr>
              <a:t>야외·레저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2B33"/>
                </a:solidFill>
              </a:rPr>
              <a:t>비 10mm+ 날 매출 변화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7780"/>
                </a:solidFill>
              </a:rPr>
              <a:t>95% 구간 -47% ~ -33%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3794760"/>
            <a:ext cx="3429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B33"/>
                </a:solidFill>
              </a:rPr>
              <a:t>매출 절반을 차지하는 외식·생활소매보다 6~8배 큰 감소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B33"/>
                </a:solidFill>
              </a:rPr>
              <a:t>숙박·여행 -12%은 당일만 보면 불확실하지만, 비 온 뒤 며칠에 걸쳐 손실이 드러남 (다음 장)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레저는 당일에, 숙박은 며칠에 걸쳐 무너지고 회복하지 못한다</a:t>
            </a:r>
            <a:endParaRPr lang="en-US" sz="3000" dirty="0"/>
          </a:p>
        </p:txBody>
      </p:sp>
      <p:sp>
        <p:nvSpPr>
          <p:cNvPr id="3" name="chart caption"/>
          <p:cNvSpPr txBox="1"/>
          <p:nvPr/>
        </p:nvSpPr>
        <p:spPr>
          <a:xfrm>
            <a:off x="548640" y="160020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B33"/>
                </a:solidFill>
              </a:rPr>
              <a:t>비 10mm+ 날 매출 변화: 당일 vs 3일 뒤까지 누적</a:t>
            </a:r>
            <a:endParaRPr lang="en-US" sz="1300" dirty="0"/>
          </a:p>
        </p:txBody>
      </p:sp>
      <p:graphicFrame>
        <p:nvGraphicFramePr>
          <p:cNvPr id="4" name="recovery chart" descr=""/>
          <p:cNvGraphicFramePr/>
          <p:nvPr/>
        </p:nvGraphicFramePr>
        <p:xfrm>
          <a:off x="457200" y="1920240"/>
          <a:ext cx="73152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recovery card 1"/>
          <p:cNvSpPr/>
          <p:nvPr/>
        </p:nvSpPr>
        <p:spPr>
          <a:xfrm>
            <a:off x="8229600" y="1783080"/>
            <a:ext cx="3429000" cy="1143000"/>
          </a:xfrm>
          <a:prstGeom prst="roundRect">
            <a:avLst>
              <a:gd name="adj" fmla="val 8000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12480" y="1856232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B33"/>
                </a:solidFill>
              </a:rPr>
              <a:t>야외·레저</a:t>
            </a:r>
            <a:endParaRPr lang="en-US" sz="1400" dirty="0"/>
          </a:p>
          <a:p>
            <a:pPr indent="0" marL="0">
              <a:buNone/>
            </a:pPr>
            <a:r>
              <a:rPr lang="en-US" sz="2000" b="1" dirty="0">
                <a:solidFill>
                  <a:srgbClr val="D9622B"/>
                </a:solidFill>
              </a:rPr>
              <a:t>-40.4% → -37.2%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D2B33"/>
                </a:solidFill>
              </a:rPr>
              <a:t>잃은 손님이 돌아오지 않음</a:t>
            </a:r>
            <a:endParaRPr lang="en-US" sz="1400" dirty="0"/>
          </a:p>
        </p:txBody>
      </p:sp>
      <p:sp>
        <p:nvSpPr>
          <p:cNvPr id="7" name="recovery card 2"/>
          <p:cNvSpPr/>
          <p:nvPr/>
        </p:nvSpPr>
        <p:spPr>
          <a:xfrm>
            <a:off x="8229600" y="3108960"/>
            <a:ext cx="3429000" cy="1143000"/>
          </a:xfrm>
          <a:prstGeom prst="roundRect">
            <a:avLst>
              <a:gd name="adj" fmla="val 8000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12480" y="3182112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B33"/>
                </a:solidFill>
              </a:rPr>
              <a:t>숙박·여행</a:t>
            </a:r>
            <a:endParaRPr lang="en-US" sz="1400" dirty="0"/>
          </a:p>
          <a:p>
            <a:pPr indent="0" marL="0">
              <a:buNone/>
            </a:pPr>
            <a:r>
              <a:rPr lang="en-US" sz="2000" b="1" dirty="0">
                <a:solidFill>
                  <a:srgbClr val="D9622B"/>
                </a:solidFill>
              </a:rPr>
              <a:t>-15.5% → -37.9%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D2B33"/>
                </a:solidFill>
              </a:rPr>
              <a:t>취소가 이어져 손실이 커짐</a:t>
            </a:r>
            <a:endParaRPr lang="en-US" sz="1400" dirty="0"/>
          </a:p>
        </p:txBody>
      </p:sp>
      <p:sp>
        <p:nvSpPr>
          <p:cNvPr id="9" name="recovery card 3"/>
          <p:cNvSpPr/>
          <p:nvPr/>
        </p:nvSpPr>
        <p:spPr>
          <a:xfrm>
            <a:off x="8229600" y="4434840"/>
            <a:ext cx="3429000" cy="1143000"/>
          </a:xfrm>
          <a:prstGeom prst="roundRect">
            <a:avLst>
              <a:gd name="adj" fmla="val 8000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412480" y="4507992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B33"/>
                </a:solidFill>
              </a:rPr>
              <a:t>생활소매</a:t>
            </a:r>
            <a:endParaRPr lang="en-US" sz="14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F6FA8"/>
                </a:solidFill>
              </a:rPr>
              <a:t>-4.8% → -0.5%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D2B33"/>
                </a:solidFill>
              </a:rPr>
              <a:t>다음 날 장보기로 회복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229600" y="5760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0"/>
                </a:solidFill>
              </a:rPr>
              <a:t>누적 95% 구간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780"/>
                </a:solidFill>
              </a:rPr>
              <a:t>야외·레저 -55% ~ -12% · 숙박·여행 -56% ~ -12%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피해는 골프장·레저타운·교통에 집중, 사우나는 오히려 늘었다</a:t>
            </a:r>
            <a:endParaRPr lang="en-US" sz="3000" dirty="0"/>
          </a:p>
        </p:txBody>
      </p:sp>
      <p:sp>
        <p:nvSpPr>
          <p:cNvPr id="3" name="chart caption"/>
          <p:cNvSpPr txBox="1"/>
          <p:nvPr/>
        </p:nvSpPr>
        <p:spPr>
          <a:xfrm>
            <a:off x="548640" y="160020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B33"/>
                </a:solidFill>
              </a:rPr>
              <a:t>레저·숙박 세부 업종별 비 10mm+ 날 매출 변화</a:t>
            </a:r>
            <a:endParaRPr lang="en-US" sz="1300" dirty="0"/>
          </a:p>
        </p:txBody>
      </p:sp>
      <p:graphicFrame>
        <p:nvGraphicFramePr>
          <p:cNvPr id="4" name="subindustry chart" descr=""/>
          <p:cNvGraphicFramePr/>
          <p:nvPr/>
        </p:nvGraphicFramePr>
        <p:xfrm>
          <a:off x="457200" y="1920240"/>
          <a:ext cx="73152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key 1"/>
          <p:cNvSpPr/>
          <p:nvPr/>
        </p:nvSpPr>
        <p:spPr>
          <a:xfrm>
            <a:off x="8229600" y="17830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D9622B"/>
          </a:solidFill>
          <a:ln w="12700">
            <a:solidFill>
              <a:srgbClr val="D962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31352" y="173736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B33"/>
                </a:solidFill>
              </a:rPr>
              <a:t>뚜렷한 감소</a:t>
            </a:r>
            <a:endParaRPr lang="en-US" sz="1100" dirty="0"/>
          </a:p>
        </p:txBody>
      </p:sp>
      <p:sp>
        <p:nvSpPr>
          <p:cNvPr id="7" name="key 2"/>
          <p:cNvSpPr/>
          <p:nvPr/>
        </p:nvSpPr>
        <p:spPr>
          <a:xfrm>
            <a:off x="9390888" y="17830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C5CBD1"/>
          </a:solidFill>
          <a:ln w="12700">
            <a:solidFill>
              <a:srgbClr val="C5CBD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92640" y="173736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B33"/>
                </a:solidFill>
              </a:rPr>
              <a:t>차이 불확실</a:t>
            </a:r>
            <a:endParaRPr lang="en-US" sz="1100" dirty="0"/>
          </a:p>
        </p:txBody>
      </p:sp>
      <p:sp>
        <p:nvSpPr>
          <p:cNvPr id="9" name="key 3"/>
          <p:cNvSpPr/>
          <p:nvPr/>
        </p:nvSpPr>
        <p:spPr>
          <a:xfrm>
            <a:off x="10552176" y="178308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2F6FA8"/>
          </a:solidFill>
          <a:ln w="12700">
            <a:solidFill>
              <a:srgbClr val="2F6FA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853928" y="173736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B33"/>
                </a:solidFill>
              </a:rPr>
              <a:t>뚜렷한 증가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29600" y="2331720"/>
            <a:ext cx="3429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D2B33"/>
                </a:solidFill>
              </a:rPr>
              <a:t>감소 업종은 외지 고객 비중이 높음: 골프장 78%, 레저타운 80%, 교통 87%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D2B33"/>
                </a:solidFill>
              </a:rPr>
              <a:t>동네 주민 시설은 영향 없음: 헬스장(외지 10%), 스포츠시설(32%)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D2B33"/>
                </a:solidFill>
              </a:rPr>
              <a:t>사우나·목욕탕 +20%: 비가 오면 실내로 이동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55321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0"/>
                </a:solidFill>
              </a:rPr>
              <a:t>여행사·항공사는 결제일이 적어 제외. 숙박 카드 결제는 앱 선결제가 빠진 현장 결제 위주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외지 관광객이 더 크게 빠지고, 비가 오면 실내로 옮겨 간다</a:t>
            </a:r>
            <a:endParaRPr lang="en-US" sz="3000" dirty="0"/>
          </a:p>
        </p:txBody>
      </p:sp>
      <p:sp>
        <p:nvSpPr>
          <p:cNvPr id="3" name="chart caption"/>
          <p:cNvSpPr txBox="1"/>
          <p:nvPr/>
        </p:nvSpPr>
        <p:spPr>
          <a:xfrm>
            <a:off x="548640" y="160020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B33"/>
                </a:solidFill>
              </a:rPr>
              <a:t>고객 거주지별 비 10mm+ 날 매출 변화</a:t>
            </a:r>
            <a:endParaRPr lang="en-US" sz="1300" dirty="0"/>
          </a:p>
        </p:txBody>
      </p:sp>
      <p:graphicFrame>
        <p:nvGraphicFramePr>
          <p:cNvPr id="4" name="residence chart" descr=""/>
          <p:cNvGraphicFramePr/>
          <p:nvPr/>
        </p:nvGraphicFramePr>
        <p:xfrm>
          <a:off x="457200" y="1920240"/>
          <a:ext cx="73152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residence card 1"/>
          <p:cNvSpPr/>
          <p:nvPr/>
        </p:nvSpPr>
        <p:spPr>
          <a:xfrm>
            <a:off x="8229600" y="1783080"/>
            <a:ext cx="3429000" cy="1143000"/>
          </a:xfrm>
          <a:prstGeom prst="roundRect">
            <a:avLst>
              <a:gd name="adj" fmla="val 8000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12480" y="1856232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B33"/>
                </a:solidFill>
              </a:rPr>
              <a:t>골프장</a:t>
            </a:r>
            <a:endParaRPr lang="en-US" sz="1400" dirty="0"/>
          </a:p>
          <a:p>
            <a:pPr indent="0" marL="0">
              <a:buNone/>
            </a:pPr>
            <a:r>
              <a:rPr lang="en-US" sz="1700" b="1" dirty="0">
                <a:solidFill>
                  <a:srgbClr val="D9622B"/>
                </a:solidFill>
              </a:rPr>
              <a:t>강원 -44% · 외지 -62%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D2B33"/>
                </a:solidFill>
              </a:rPr>
              <a:t>외지 관광객이 더 크게 취소</a:t>
            </a:r>
            <a:endParaRPr lang="en-US" sz="1400" dirty="0"/>
          </a:p>
        </p:txBody>
      </p:sp>
      <p:sp>
        <p:nvSpPr>
          <p:cNvPr id="7" name="residence card 2"/>
          <p:cNvSpPr/>
          <p:nvPr/>
        </p:nvSpPr>
        <p:spPr>
          <a:xfrm>
            <a:off x="8229600" y="3108960"/>
            <a:ext cx="3429000" cy="1143000"/>
          </a:xfrm>
          <a:prstGeom prst="roundRect">
            <a:avLst>
              <a:gd name="adj" fmla="val 8000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12480" y="3182112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B33"/>
                </a:solidFill>
              </a:rPr>
              <a:t>사우나·목욕탕</a:t>
            </a:r>
            <a:endParaRPr lang="en-US" sz="1400" dirty="0"/>
          </a:p>
          <a:p>
            <a:pPr indent="0" marL="0">
              <a:buNone/>
            </a:pPr>
            <a:r>
              <a:rPr lang="en-US" sz="1700" b="1" dirty="0">
                <a:solidFill>
                  <a:srgbClr val="2F6FA8"/>
                </a:solidFill>
              </a:rPr>
              <a:t>강원 +15% · 외지 +47%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D2B33"/>
                </a:solidFill>
              </a:rPr>
              <a:t>비 오는 날 외지 관광객이 실내로</a:t>
            </a:r>
            <a:endParaRPr lang="en-US" sz="1400" dirty="0"/>
          </a:p>
        </p:txBody>
      </p:sp>
      <p:sp>
        <p:nvSpPr>
          <p:cNvPr id="9" name="residence card 3"/>
          <p:cNvSpPr/>
          <p:nvPr/>
        </p:nvSpPr>
        <p:spPr>
          <a:xfrm>
            <a:off x="8229600" y="4434840"/>
            <a:ext cx="3429000" cy="1143000"/>
          </a:xfrm>
          <a:prstGeom prst="roundRect">
            <a:avLst>
              <a:gd name="adj" fmla="val 8000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412480" y="4507992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B33"/>
                </a:solidFill>
              </a:rPr>
              <a:t>레저타운·놀이동산</a:t>
            </a:r>
            <a:endParaRPr lang="en-US" sz="1400" dirty="0"/>
          </a:p>
          <a:p>
            <a:pPr indent="0" marL="0">
              <a:buNone/>
            </a:pPr>
            <a:r>
              <a:rPr lang="en-US" sz="1700" b="1" dirty="0">
                <a:solidFill>
                  <a:srgbClr val="D9622B"/>
                </a:solidFill>
              </a:rPr>
              <a:t>강원·외지 모두 약 -45%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D2B33"/>
                </a:solidFill>
              </a:rPr>
              <a:t>고객 대부분(80%)이 외지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229600" y="5760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0"/>
                </a:solidFill>
              </a:rPr>
              <a:t>강원 고객 = 강원도 거주(춘천 밖 포함). 사우나 외지 고객 95% 구간 +13% ~ +92%로 넓음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7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37160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정리: 춘천의 비 취약 상권은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레저(당일 충격)와 숙박(회복 실패)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dirty="0">
                <a:solidFill>
                  <a:srgbClr val="C8D6DF"/>
                </a:solidFill>
              </a:rPr>
              <a:t>원인은 외지 관광객의 이탈 → 모델은 이 손실과 회복을 예측하고, 정책은 재방문을 만든다</a:t>
            </a:r>
            <a:endParaRPr lang="en-US" sz="2000" dirty="0"/>
          </a:p>
        </p:txBody>
      </p:sp>
      <p:sp>
        <p:nvSpPr>
          <p:cNvPr id="4" name="summary card 1"/>
          <p:cNvSpPr/>
          <p:nvPr/>
        </p:nvSpPr>
        <p:spPr>
          <a:xfrm>
            <a:off x="731520" y="4297680"/>
            <a:ext cx="3291840" cy="1508760"/>
          </a:xfrm>
          <a:prstGeom prst="roundRect">
            <a:avLst>
              <a:gd name="adj" fmla="val 7273"/>
            </a:avLst>
          </a:prstGeom>
          <a:solidFill>
            <a:srgbClr val="1F4252"/>
          </a:solidFill>
          <a:ln w="12700">
            <a:solidFill>
              <a:srgbClr val="1F4252"/>
            </a:solidFill>
            <a:prstDash val="solid"/>
          </a:ln>
        </p:spPr>
      </p:sp>
      <p:sp>
        <p:nvSpPr>
          <p:cNvPr id="5" name="summary number 1"/>
          <p:cNvSpPr/>
          <p:nvPr/>
        </p:nvSpPr>
        <p:spPr>
          <a:xfrm>
            <a:off x="960120" y="4480560"/>
            <a:ext cx="411480" cy="411480"/>
          </a:xfrm>
          <a:prstGeom prst="ellipse">
            <a:avLst/>
          </a:prstGeom>
          <a:solidFill>
            <a:srgbClr val="D9622B"/>
          </a:solidFill>
          <a:ln w="12700">
            <a:solidFill>
              <a:srgbClr val="D962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당일 충격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983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6EC"/>
                </a:solidFill>
              </a:rPr>
              <a:t>야외·레저 -40%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E6EC"/>
                </a:solidFill>
              </a:rPr>
              <a:t>업종 중 최대 감소</a:t>
            </a:r>
            <a:endParaRPr lang="en-US" sz="1300" dirty="0"/>
          </a:p>
        </p:txBody>
      </p:sp>
      <p:sp>
        <p:nvSpPr>
          <p:cNvPr id="9" name="summary card 2"/>
          <p:cNvSpPr/>
          <p:nvPr/>
        </p:nvSpPr>
        <p:spPr>
          <a:xfrm>
            <a:off x="4297680" y="4297680"/>
            <a:ext cx="3291840" cy="1508760"/>
          </a:xfrm>
          <a:prstGeom prst="roundRect">
            <a:avLst>
              <a:gd name="adj" fmla="val 7273"/>
            </a:avLst>
          </a:prstGeom>
          <a:solidFill>
            <a:srgbClr val="1F4252"/>
          </a:solidFill>
          <a:ln w="12700">
            <a:solidFill>
              <a:srgbClr val="1F4252"/>
            </a:solidFill>
            <a:prstDash val="solid"/>
          </a:ln>
        </p:spPr>
      </p:sp>
      <p:sp>
        <p:nvSpPr>
          <p:cNvPr id="10" name="summary number 2"/>
          <p:cNvSpPr/>
          <p:nvPr/>
        </p:nvSpPr>
        <p:spPr>
          <a:xfrm>
            <a:off x="4526280" y="4480560"/>
            <a:ext cx="411480" cy="411480"/>
          </a:xfrm>
          <a:prstGeom prst="ellipse">
            <a:avLst/>
          </a:prstGeom>
          <a:solidFill>
            <a:srgbClr val="D9622B"/>
          </a:solidFill>
          <a:ln w="12700">
            <a:solidFill>
              <a:srgbClr val="D962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0749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회복 실패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4983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6EC"/>
                </a:solidFill>
              </a:rPr>
              <a:t>숙박·여행 3일 누적 -38%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E6EC"/>
                </a:solidFill>
              </a:rPr>
              <a:t>레저도 손실을 메우지 못함</a:t>
            </a:r>
            <a:endParaRPr lang="en-US" sz="1300" dirty="0"/>
          </a:p>
        </p:txBody>
      </p:sp>
      <p:sp>
        <p:nvSpPr>
          <p:cNvPr id="14" name="summary card 3"/>
          <p:cNvSpPr/>
          <p:nvPr/>
        </p:nvSpPr>
        <p:spPr>
          <a:xfrm>
            <a:off x="7863840" y="4297680"/>
            <a:ext cx="3291840" cy="1508760"/>
          </a:xfrm>
          <a:prstGeom prst="roundRect">
            <a:avLst>
              <a:gd name="adj" fmla="val 7273"/>
            </a:avLst>
          </a:prstGeom>
          <a:solidFill>
            <a:srgbClr val="1F4252"/>
          </a:solidFill>
          <a:ln w="12700">
            <a:solidFill>
              <a:srgbClr val="1F4252"/>
            </a:solidFill>
            <a:prstDash val="solid"/>
          </a:ln>
        </p:spPr>
      </p:sp>
      <p:sp>
        <p:nvSpPr>
          <p:cNvPr id="15" name="summary number 3"/>
          <p:cNvSpPr/>
          <p:nvPr/>
        </p:nvSpPr>
        <p:spPr>
          <a:xfrm>
            <a:off x="8092440" y="4480560"/>
            <a:ext cx="411480" cy="411480"/>
          </a:xfrm>
          <a:prstGeom prst="ellipse">
            <a:avLst/>
          </a:prstGeom>
          <a:solidFill>
            <a:srgbClr val="D9622B"/>
          </a:solidFill>
          <a:ln w="12700">
            <a:solidFill>
              <a:srgbClr val="D962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9244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64108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원인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4983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6EC"/>
                </a:solidFill>
              </a:rPr>
              <a:t>외지 관광객 이탈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E6EC"/>
                </a:solidFill>
              </a:rPr>
              <a:t>비 오면 실내(사우나 등)로 이동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60807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3BF"/>
                </a:solidFill>
              </a:rPr>
              <a:t>한계: 숙박 앱 선결제 미포함 · 6개월(비 10mm+ 26일) · 고객 거주지는 시도 단위 · 외지 비중과 피해의 관계는 레저·숙박 안에서만 확인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uncheon Rain">
  <a:themeElements>
    <a:clrScheme name="Chuncheon Rain">
      <a:dk1>
        <a:srgbClr val="1D2B33"/>
      </a:dk1>
      <a:lt1>
        <a:srgbClr val="FFFFFF"/>
      </a:lt1>
      <a:dk2>
        <a:srgbClr val="15303D"/>
      </a:dk2>
      <a:lt2>
        <a:srgbClr val="EEF2F5"/>
      </a:lt2>
      <a:accent1>
        <a:srgbClr val="D9622B"/>
      </a:accent1>
      <a:accent2>
        <a:srgbClr val="2F6FA8"/>
      </a:accent2>
      <a:accent3>
        <a:srgbClr val="C5CBD1"/>
      </a:accent3>
      <a:accent4>
        <a:srgbClr val="E9A27F"/>
      </a:accent4>
      <a:accent5>
        <a:srgbClr val="5B7083"/>
      </a:accent5>
      <a:accent6>
        <a:srgbClr val="8FB4D6"/>
      </a:accent6>
      <a:hlink>
        <a:srgbClr val="2F6FA8"/>
      </a:hlink>
      <a:folHlink>
        <a:srgbClr val="5B7083"/>
      </a:folHlink>
    </a:clrScheme>
    <a:fontScheme name="Chuncheon Rain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인사이트 2 — 춘천 레저·숙박의 비 피해</dc:title>
  <dc:subject>PptxGenJS Presentation</dc:subject>
  <dc:creator>PptxGenJS</dc:creator>
  <cp:lastModifiedBy>PptxGenJS</cp:lastModifiedBy>
  <cp:revision>1</cp:revision>
  <dcterms:created xsi:type="dcterms:W3CDTF">2026-10-24T05:40:38Z</dcterms:created>
  <dcterms:modified xsi:type="dcterms:W3CDTF">2026-10-24T05:40:38Z</dcterms:modified>
</cp:coreProperties>
</file>