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사이트 2" id="{9e1d67b1-c5ed-d1b9-6fb1-edea4cf70f72}">
          <p14:sldIdLst>
            <p14:sldId id="256"/>
            <p14:sldId id="257"/>
            <p14:sldId id="258"/>
          </p14:sldIdLst>
        </p14:section>
        <p14:section name="부록" id="{60090f81-184d-e65e-fd28-d1fa79f856de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변화</c:v>
                </c:pt>
              </c:strCache>
            </c:strRef>
          </c:tx>
          <c:spPr>
            <a:solidFill>
              <a:srgbClr val="4A6E52"/>
            </a:solidFill>
            <a:effectLst/>
          </c:spPr>
          <c:invertIfNegative val="0"/>
          <c:dLbls>
            <c:numFmt formatCode="+0%;-0%;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2E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6E5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6A89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야외·레저</c:v>
                  </c:pt>
                  <c:pt idx="1">
                    <c:v>가정·내구재</c:v>
                  </c:pt>
                  <c:pt idx="2">
                    <c:v>패션·뷰티소매</c:v>
                  </c:pt>
                  <c:pt idx="3">
                    <c:v>숙박·여행</c:v>
                  </c:pt>
                  <c:pt idx="4">
                    <c:v>차량·교통</c:v>
                  </c:pt>
                  <c:pt idx="5">
                    <c:v>교육</c:v>
                  </c:pt>
                  <c:pt idx="6">
                    <c:v>주점·유흥</c:v>
                  </c:pt>
                  <c:pt idx="7">
                    <c:v>의료</c:v>
                  </c:pt>
                  <c:pt idx="8">
                    <c:v>외식</c:v>
                  </c:pt>
                  <c:pt idx="9">
                    <c:v>미용·생활서비스</c:v>
                  </c:pt>
                  <c:pt idx="10">
                    <c:v>문화·취미</c:v>
                  </c:pt>
                  <c:pt idx="11">
                    <c:v>생활소매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-0.40354977463745567</c:v>
                </c:pt>
                <c:pt idx="1">
                  <c:v>-0.18355905369828074</c:v>
                </c:pt>
                <c:pt idx="2">
                  <c:v>-0.18035707578467852</c:v>
                </c:pt>
                <c:pt idx="3">
                  <c:v>-0.12163877310831672</c:v>
                </c:pt>
                <c:pt idx="4">
                  <c:v>-0.10883630423466872</c:v>
                </c:pt>
                <c:pt idx="5">
                  <c:v>-0.10567312781853788</c:v>
                </c:pt>
                <c:pt idx="6">
                  <c:v>-0.10200295131504422</c:v>
                </c:pt>
                <c:pt idx="7">
                  <c:v>-0.09312071284984913</c:v>
                </c:pt>
                <c:pt idx="8">
                  <c:v>-0.0712932762879972</c:v>
                </c:pt>
                <c:pt idx="9">
                  <c:v>-0.06886303890805034</c:v>
                </c:pt>
                <c:pt idx="10">
                  <c:v>-0.05716705441767411</c:v>
                </c:pt>
                <c:pt idx="11">
                  <c:v>-0.04977892788000471</c:v>
                </c:pt>
              </c:numCache>
            </c:numRef>
          </c:val>
        </c:ser>
        <c:dLbls>
          <c:numFmt formatCode="+0%;-0%;0%" sourceLinked="0"/>
          <c:txPr>
            <a:bodyPr/>
            <a:lstStyle/>
            <a:p>
              <a:pPr>
                <a:defRPr b="0" i="0" strike="noStrike" sz="1100" u="none">
                  <a:solidFill>
                    <a:srgbClr val="192E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2E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5"/>
        </c:scaling>
        <c:delete val="0"/>
        <c:axPos val="b"/>
        <c:majorGridlines>
          <c:spPr>
            <a:ln w="9525" cap="flat">
              <a:solidFill>
                <a:srgbClr val="DCE3D5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1706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비 온 당일</c:v>
                </c:pt>
              </c:strCache>
            </c:strRef>
          </c:tx>
          <c:spPr>
            <a:solidFill>
              <a:srgbClr val="96A89C"/>
            </a:solidFill>
            <a:effectLst/>
          </c:spPr>
          <c:invertIfNegative val="0"/>
          <c:dLbls>
            <c:numFmt formatCode="+0.0%;-0.0%;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2E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야외·레저</c:v>
                  </c:pt>
                  <c:pt idx="1">
                    <c:v>숙박·여행</c:v>
                  </c:pt>
                  <c:pt idx="2">
                    <c:v>외식</c:v>
                  </c:pt>
                  <c:pt idx="3">
                    <c:v>생활소매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-0.4039404278238409</c:v>
                </c:pt>
                <c:pt idx="1">
                  <c:v>-0.15492847573728818</c:v>
                </c:pt>
                <c:pt idx="2">
                  <c:v>-0.0749351835080222</c:v>
                </c:pt>
                <c:pt idx="3">
                  <c:v>-0.04828349641967111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3일 뒤까지 누적</c:v>
                </c:pt>
              </c:strCache>
            </c:strRef>
          </c:tx>
          <c:spPr>
            <a:solidFill>
              <a:srgbClr val="4A6E52"/>
            </a:solidFill>
            <a:effectLst/>
          </c:spPr>
          <c:invertIfNegative val="0"/>
          <c:dLbls>
            <c:numFmt formatCode="+0.0%;-0.0%;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2E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야외·레저</c:v>
                  </c:pt>
                  <c:pt idx="1">
                    <c:v>숙박·여행</c:v>
                  </c:pt>
                  <c:pt idx="2">
                    <c:v>외식</c:v>
                  </c:pt>
                  <c:pt idx="3">
                    <c:v>생활소매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-0.3716249617796519</c:v>
                </c:pt>
                <c:pt idx="1">
                  <c:v>-0.37915926937513733</c:v>
                </c:pt>
                <c:pt idx="2">
                  <c:v>-0.08130496968221601</c:v>
                </c:pt>
                <c:pt idx="3">
                  <c:v>-0.0051494268278160504</c:v>
                </c:pt>
              </c:numCache>
            </c:numRef>
          </c:val>
        </c:ser>
        <c:dLbls>
          <c:numFmt formatCode="+0.0%;-0.0%;0%" sourceLinked="0"/>
          <c:txPr>
            <a:bodyPr/>
            <a:lstStyle/>
            <a:p>
              <a:pPr>
                <a:defRPr b="0" i="0" strike="noStrike" sz="1100" u="none">
                  <a:solidFill>
                    <a:srgbClr val="192E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high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2E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"/>
          <c:min val="-0.5"/>
        </c:scaling>
        <c:delete val="0"/>
        <c:axPos val="l"/>
        <c:majorGridlines>
          <c:spPr>
            <a:ln w="9525" cap="flat">
              <a:solidFill>
                <a:srgbClr val="DCE3D5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1706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92E2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변화</c:v>
                </c:pt>
              </c:strCache>
            </c:strRef>
          </c:tx>
          <c:spPr>
            <a:solidFill>
              <a:srgbClr val="4A6E52"/>
            </a:solidFill>
            <a:effectLst/>
          </c:spPr>
          <c:invertIfNegative val="0"/>
          <c:dLbls>
            <c:numFmt formatCode="+0%;-0%;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2E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6E5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6E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6E5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5DD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DBB45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골프장(실내·실외)</c:v>
                  </c:pt>
                  <c:pt idx="1">
                    <c:v>고속버스·철도·여객선</c:v>
                  </c:pt>
                  <c:pt idx="2">
                    <c:v>레저타운·놀이동산</c:v>
                  </c:pt>
                  <c:pt idx="3">
                    <c:v>호텔·콘도</c:v>
                  </c:pt>
                  <c:pt idx="4">
                    <c:v>헬스장</c:v>
                  </c:pt>
                  <c:pt idx="5">
                    <c:v>모텔·여관</c:v>
                  </c:pt>
                  <c:pt idx="6">
                    <c:v>스포츠시설</c:v>
                  </c:pt>
                  <c:pt idx="7">
                    <c:v>사우나·목욕탕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-0.5774015198658221</c:v>
                </c:pt>
                <c:pt idx="1">
                  <c:v>-0.4681697181400535</c:v>
                </c:pt>
                <c:pt idx="2">
                  <c:v>-0.4544400185203976</c:v>
                </c:pt>
                <c:pt idx="3">
                  <c:v>-0.2083166675568432</c:v>
                </c:pt>
                <c:pt idx="4">
                  <c:v>-0.04237753951732115</c:v>
                </c:pt>
                <c:pt idx="5">
                  <c:v>-0.0180034365442292</c:v>
                </c:pt>
                <c:pt idx="6">
                  <c:v>0.059697338529853816</c:v>
                </c:pt>
                <c:pt idx="7">
                  <c:v>0.20485947001309013</c:v>
                </c:pt>
              </c:numCache>
            </c:numRef>
          </c:val>
        </c:ser>
        <c:dLbls>
          <c:numFmt formatCode="+0%;-0%;0%" sourceLinked="0"/>
          <c:txPr>
            <a:bodyPr/>
            <a:lstStyle/>
            <a:p>
              <a:pPr>
                <a:defRPr b="0" i="0" strike="noStrike" sz="1100" u="none">
                  <a:solidFill>
                    <a:srgbClr val="192E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2E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7"/>
        </c:scaling>
        <c:delete val="0"/>
        <c:axPos val="b"/>
        <c:majorGridlines>
          <c:spPr>
            <a:ln w="9525" cap="flat">
              <a:solidFill>
                <a:srgbClr val="DCE3D5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1706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업종군 12개를 비교한 결과입니다. 비가 10mm 넘게 오는 날 야외·레저 매출은 40% 줄어 다른 업종보다 압도적으로 큽니다. 95% 신뢰구간도 -47% ~ -33%로 확실합니다. 춘천 매출의 절반을 차지하는 외식과 생활소매는 5~7% 정도 줄어듭니다. 비 오는 날이 여름에 몰려 있어 기온을 더 촘촘히 통제해 봤는데, 그래도 야외·레저는 -34%로 뚜렷합니다. 숙박·여행은 당일 -12%로 통계적으로는 불확실한데, 다음 장에서 보듯 비 온 뒤 며칠에 걸쳐 손실이 커집니다. 분석에는 날짜, 업종, 결제금액 컬럼을 썼고, 고객 거주지는 데이터2에서 가져왔습니다. 자세한 선택 이유는 부록에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 온 뒤 회복을 본 장입니다. 파란 막대는 비 온 당일, 주황 막대는 그 뒤 사흘까지 더한 누적 변화입니다. 생활소매는 당일 5% 줄지만 그 뒤 1~3일 사이 매출이 반등해 누적으로는 0에 가깝습니다. 반등은 통계적으로 유의합니다(p = 0.04). 손님이 장보기를 하루이틀 미룬 것으로 해석할 수 있습니다. 야외·레저는 당일 40% 빠진 뒤 그대로입니다. 비 때문에 취소한 골프나 나들이는 다시 오지 않는다는 뜻입니다. 숙박·여행은 당일보다 그 뒤가 더 나빠 누적 38% 감소입니다. 비 예보로 이어지는 예약 취소로 보입니다. 그래서 레저와 숙박은 손실이 사라지는 업종, 즉 지원이 필요한 업종입니다.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레저와 숙박을 세부 업종으로 쪼갠 결과입니다. 주황은 뚜렷하게 줄어든 업종, 회색은 차이가 불확실한 업종, 파랑은 뚜렷하게 늘어난 업종입니다. 골프장은 58%, 고속버스·철도는 47%, 레저타운·놀이동산은 45% 줄었습니다. 세 업종 모두 외지 고객 비중이 80% 안팎입니다. 같은 골프장 안에서도 강원 고객은 -44%, 외지 고객은 -62%로 외지 관광객이 더 크게 빠집니다. 반대로 헬스장과 스포츠시설처럼 주민이 쓰는 곳은 영향이 없습니다. 사우나는 오히려 20% 늘었고, 외지 고객은 +47% 늘었습니다. 비 오는 날 더 선선해서 늘어난 것 아니냐는 질문에 대비해 기온을 촘촘히 통제해 봤는데, 그래도 18% 증가로 유의합니다. 비가 오면 관광객이 아예 안 오는 게 아니라 실내로 옮겨 간다는 신호이고, 이것이 정책 제안의 실마리입니다. 호텔·콘도도 21% 줄었지만 결제가 들쭉날쭉해 통계적으로는 불확실하고, 숙박은 앱 선결제가 데이터에서 빠지는 한계가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분석에 쓴 컬럼과 이유입니다. 질문이 나오면 이 장을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93192"/>
            <a:ext cx="292608" cy="82296"/>
          </a:xfrm>
          <a:prstGeom prst="rect">
            <a:avLst/>
          </a:prstGeom>
          <a:solidFill>
            <a:srgbClr val="BAD666"/>
          </a:solidFill>
          <a:ln w="12700">
            <a:solidFill>
              <a:srgbClr val="BAD6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기후위기와 취약 상권 분석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617069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548640" y="6263640"/>
            <a:ext cx="11091672" cy="0"/>
          </a:xfrm>
          <a:prstGeom prst="line">
            <a:avLst/>
          </a:prstGeom>
          <a:noFill/>
          <a:ln w="9525">
            <a:solidFill>
              <a:srgbClr val="DCE3D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7069"/>
                </a:solidFill>
              </a:rPr>
              <a:t>자료: 신한카드 춘천 개인 결제(2025.7~12, 상권 업종), 기상청 ASOS 춘천 · 주·요일·공휴일·폭염 통제 회귀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92E26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92E26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인사이트 2 · 비 오면 야외·레저 매출 40% 감소</a:t>
            </a:r>
            <a:endParaRPr lang="en-US" sz="2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17069"/>
                </a:solidFill>
              </a:rPr>
              <a:t>2025년 7–12월 · 일 강수량 10mm 이상을 '비 오는 날'로 구분 · 업종군 12개를 주·요일·공휴일·기온 통제 후 비교</a:t>
            </a:r>
            <a:endParaRPr lang="en-US" sz="1300" dirty="0"/>
          </a:p>
        </p:txBody>
      </p:sp>
      <p:sp>
        <p:nvSpPr>
          <p:cNvPr id="4" name="chart caption"/>
          <p:cNvSpPr txBox="1"/>
          <p:nvPr/>
        </p:nvSpPr>
        <p:spPr>
          <a:xfrm>
            <a:off x="548640" y="16002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2E26"/>
                </a:solidFill>
              </a:rPr>
              <a:t>업종군별 비 10mm+ 날 매출 변화 (비 안 온 날 대비)</a:t>
            </a:r>
            <a:endParaRPr lang="en-US" sz="1300" dirty="0"/>
          </a:p>
        </p:txBody>
      </p:sp>
      <p:graphicFrame>
        <p:nvGraphicFramePr>
          <p:cNvPr id="5" name="group rain chart" descr=""/>
          <p:cNvGraphicFramePr/>
          <p:nvPr/>
        </p:nvGraphicFramePr>
        <p:xfrm>
          <a:off x="457200" y="19202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4A6E52"/>
                </a:solidFill>
              </a:rPr>
              <a:t>-40%</a:t>
            </a:r>
            <a:endParaRPr lang="en-US" sz="6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278892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2E26"/>
                </a:solidFill>
              </a:rPr>
              <a:t>야외·레저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2E26"/>
                </a:solidFill>
              </a:rPr>
              <a:t>비 10mm+ 날 매출 변화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7069"/>
                </a:solidFill>
              </a:rPr>
              <a:t>95% 구간 -47% ~ -33%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379476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92E26"/>
                </a:solidFill>
              </a:rPr>
              <a:t>매출 절반을 차지하는 외식·생활소매보다 6~8배 큰 감소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92E26"/>
                </a:solidFill>
              </a:rPr>
              <a:t>숙박·여행은 당일 감소가 불확실하고, 손실은 비 온 뒤에 드러남 (다음 장)</a:t>
            </a:r>
            <a:endParaRPr lang="en-US" sz="1400" dirty="0"/>
          </a:p>
        </p:txBody>
      </p:sp>
      <p:sp>
        <p:nvSpPr>
          <p:cNvPr id="9" name="footnote"/>
          <p:cNvSpPr txBox="1"/>
          <p:nvPr/>
        </p:nvSpPr>
        <p:spPr>
          <a:xfrm>
            <a:off x="8229600" y="52578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17069"/>
                </a:solidFill>
              </a:rPr>
              <a:t>쓴 컬럼: 날짜·업종·결제금액·고객 거주지 (부록 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17069"/>
                </a:solidFill>
              </a:rPr>
              <a:t>기온을 연속값으로 통제해도 야외·레저 -34% (p&lt;0.001)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92E26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인사이트 2 · 레저·숙박은 비 온 뒤 회복하지 못한다</a:t>
            </a:r>
            <a:endParaRPr lang="en-US" sz="2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17069"/>
                </a:solidFill>
              </a:rPr>
              <a:t>비 온 당일과 3일 뒤까지의 누적 매출 변화 비교 · 레저는 당일에, 숙박은 며칠에 걸쳐 감소 · 생활소매는 회복</a:t>
            </a:r>
            <a:endParaRPr lang="en-US" sz="1300" dirty="0"/>
          </a:p>
        </p:txBody>
      </p:sp>
      <p:sp>
        <p:nvSpPr>
          <p:cNvPr id="4" name="chart caption"/>
          <p:cNvSpPr txBox="1"/>
          <p:nvPr/>
        </p:nvSpPr>
        <p:spPr>
          <a:xfrm>
            <a:off x="548640" y="16002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2E26"/>
                </a:solidFill>
              </a:rPr>
              <a:t>비 10mm+ 날 매출 변화: 당일 vs 3일 뒤까지 누적</a:t>
            </a:r>
            <a:endParaRPr lang="en-US" sz="1300" dirty="0"/>
          </a:p>
        </p:txBody>
      </p:sp>
      <p:graphicFrame>
        <p:nvGraphicFramePr>
          <p:cNvPr id="5" name="recovery chart" descr=""/>
          <p:cNvGraphicFramePr/>
          <p:nvPr/>
        </p:nvGraphicFramePr>
        <p:xfrm>
          <a:off x="457200" y="19202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ecovery card 1"/>
          <p:cNvSpPr/>
          <p:nvPr/>
        </p:nvSpPr>
        <p:spPr>
          <a:xfrm>
            <a:off x="8229600" y="1783080"/>
            <a:ext cx="3429000" cy="1097280"/>
          </a:xfrm>
          <a:prstGeom prst="roundRect">
            <a:avLst>
              <a:gd name="adj" fmla="val 8333"/>
            </a:avLst>
          </a:prstGeom>
          <a:solidFill>
            <a:srgbClr val="EAF0E3"/>
          </a:solidFill>
          <a:ln w="12700">
            <a:solidFill>
              <a:srgbClr val="EAF0E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0" y="184708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2E26"/>
                </a:solidFill>
              </a:rPr>
              <a:t>야외·레저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4A6E52"/>
                </a:solidFill>
              </a:rPr>
              <a:t>-40.4% → -37.2%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잃은 손님이 돌아오지 않음</a:t>
            </a:r>
            <a:endParaRPr lang="en-US" sz="1400" dirty="0"/>
          </a:p>
        </p:txBody>
      </p:sp>
      <p:sp>
        <p:nvSpPr>
          <p:cNvPr id="8" name="recovery card 2"/>
          <p:cNvSpPr/>
          <p:nvPr/>
        </p:nvSpPr>
        <p:spPr>
          <a:xfrm>
            <a:off x="8229600" y="3017520"/>
            <a:ext cx="3429000" cy="1097280"/>
          </a:xfrm>
          <a:prstGeom prst="roundRect">
            <a:avLst>
              <a:gd name="adj" fmla="val 8333"/>
            </a:avLst>
          </a:prstGeom>
          <a:solidFill>
            <a:srgbClr val="EAF0E3"/>
          </a:solidFill>
          <a:ln w="12700">
            <a:solidFill>
              <a:srgbClr val="EAF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08152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2E26"/>
                </a:solidFill>
              </a:rPr>
              <a:t>숙박·여행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4A6E52"/>
                </a:solidFill>
              </a:rPr>
              <a:t>-15.5% → -37.9%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비 온 뒤에도 손실이 커짐</a:t>
            </a:r>
            <a:endParaRPr lang="en-US" sz="1400" dirty="0"/>
          </a:p>
        </p:txBody>
      </p:sp>
      <p:sp>
        <p:nvSpPr>
          <p:cNvPr id="10" name="recovery card 3"/>
          <p:cNvSpPr/>
          <p:nvPr/>
        </p:nvSpPr>
        <p:spPr>
          <a:xfrm>
            <a:off x="8229600" y="4251960"/>
            <a:ext cx="3429000" cy="1097280"/>
          </a:xfrm>
          <a:prstGeom prst="roundRect">
            <a:avLst>
              <a:gd name="adj" fmla="val 8333"/>
            </a:avLst>
          </a:prstGeom>
          <a:solidFill>
            <a:srgbClr val="EAF0E3"/>
          </a:solidFill>
          <a:ln w="12700">
            <a:solidFill>
              <a:srgbClr val="EAF0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0" y="431596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2E26"/>
                </a:solidFill>
              </a:rPr>
              <a:t>생활소매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5F7F25"/>
                </a:solidFill>
              </a:rPr>
              <a:t>-4.8% → -0.5%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1~3일 안에 반등해 손실을 메움</a:t>
            </a:r>
            <a:endParaRPr lang="en-US" sz="1400" dirty="0"/>
          </a:p>
        </p:txBody>
      </p:sp>
      <p:sp>
        <p:nvSpPr>
          <p:cNvPr id="12" name="footnote"/>
          <p:cNvSpPr txBox="1"/>
          <p:nvPr/>
        </p:nvSpPr>
        <p:spPr>
          <a:xfrm>
            <a:off x="8229600" y="55778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17069"/>
                </a:solidFill>
              </a:rPr>
              <a:t>누적 95% 구간: 레저 -55%~-12%, 숙박 -56%~-12%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17069"/>
                </a:solidFill>
              </a:rPr>
              <a:t>생활소매 1~3일 뒤 반등 p = 0.04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92E26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인사이트 2 · 피해는 외지 관광객이 찾는 업종에 집중</a:t>
            </a:r>
            <a:endParaRPr lang="en-US" sz="2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17069"/>
                </a:solidFill>
              </a:rPr>
              <a:t>레저·숙박 세부 업종과 고객 거주지(외지·강원) 비교 · 비가 오면 관광객은 실내 시설로 이동</a:t>
            </a:r>
            <a:endParaRPr lang="en-US" sz="1300" dirty="0"/>
          </a:p>
        </p:txBody>
      </p:sp>
      <p:sp>
        <p:nvSpPr>
          <p:cNvPr id="4" name="chart caption"/>
          <p:cNvSpPr txBox="1"/>
          <p:nvPr/>
        </p:nvSpPr>
        <p:spPr>
          <a:xfrm>
            <a:off x="548640" y="16002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2E26"/>
                </a:solidFill>
              </a:rPr>
              <a:t>레저·숙박 세부 업종별 비 10mm+ 날 매출 변화</a:t>
            </a:r>
            <a:endParaRPr lang="en-US" sz="1300" dirty="0"/>
          </a:p>
        </p:txBody>
      </p:sp>
      <p:graphicFrame>
        <p:nvGraphicFramePr>
          <p:cNvPr id="5" name="subindustry chart" descr=""/>
          <p:cNvGraphicFramePr/>
          <p:nvPr/>
        </p:nvGraphicFramePr>
        <p:xfrm>
          <a:off x="457200" y="19202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ey 1"/>
          <p:cNvSpPr/>
          <p:nvPr/>
        </p:nvSpPr>
        <p:spPr>
          <a:xfrm>
            <a:off x="8229600" y="16916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A6E52"/>
          </a:solidFill>
          <a:ln w="12700">
            <a:solidFill>
              <a:srgbClr val="4A6E5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31352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92E26"/>
                </a:solidFill>
              </a:rPr>
              <a:t>뚜렷한 감소</a:t>
            </a:r>
            <a:endParaRPr lang="en-US" sz="1100" dirty="0"/>
          </a:p>
        </p:txBody>
      </p:sp>
      <p:sp>
        <p:nvSpPr>
          <p:cNvPr id="8" name="key 2"/>
          <p:cNvSpPr/>
          <p:nvPr/>
        </p:nvSpPr>
        <p:spPr>
          <a:xfrm>
            <a:off x="9390888" y="16916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D5DDD1"/>
          </a:solidFill>
          <a:ln w="12700">
            <a:solidFill>
              <a:srgbClr val="D5D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9264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92E26"/>
                </a:solidFill>
              </a:rPr>
              <a:t>차이 불확실</a:t>
            </a:r>
            <a:endParaRPr lang="en-US" sz="1100" dirty="0"/>
          </a:p>
        </p:txBody>
      </p:sp>
      <p:sp>
        <p:nvSpPr>
          <p:cNvPr id="10" name="key 3"/>
          <p:cNvSpPr/>
          <p:nvPr/>
        </p:nvSpPr>
        <p:spPr>
          <a:xfrm>
            <a:off x="10552176" y="16916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DBB45"/>
          </a:solidFill>
          <a:ln w="12700">
            <a:solidFill>
              <a:srgbClr val="9DBB4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853928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92E26"/>
                </a:solidFill>
              </a:rPr>
              <a:t>뚜렷한 증가</a:t>
            </a:r>
            <a:endParaRPr lang="en-US" sz="1100" dirty="0"/>
          </a:p>
        </p:txBody>
      </p:sp>
      <p:sp>
        <p:nvSpPr>
          <p:cNvPr id="12" name="sub card 1"/>
          <p:cNvSpPr/>
          <p:nvPr/>
        </p:nvSpPr>
        <p:spPr>
          <a:xfrm>
            <a:off x="8229600" y="2148840"/>
            <a:ext cx="3429000" cy="1051560"/>
          </a:xfrm>
          <a:prstGeom prst="roundRect">
            <a:avLst>
              <a:gd name="adj" fmla="val 8696"/>
            </a:avLst>
          </a:prstGeom>
          <a:solidFill>
            <a:srgbClr val="EAF0E3"/>
          </a:solidFill>
          <a:ln w="12700">
            <a:solidFill>
              <a:srgbClr val="EAF0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2212848"/>
            <a:ext cx="3108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2E26"/>
                </a:solidFill>
              </a:rPr>
              <a:t>골프장 (외지 고객 78%)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4A6E52"/>
                </a:solidFill>
              </a:rPr>
              <a:t>강원 -44% · 외지 -62%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외지 관광객이 더 크게 취소</a:t>
            </a:r>
            <a:endParaRPr lang="en-US" sz="1400" dirty="0"/>
          </a:p>
        </p:txBody>
      </p:sp>
      <p:sp>
        <p:nvSpPr>
          <p:cNvPr id="14" name="sub card 2"/>
          <p:cNvSpPr/>
          <p:nvPr/>
        </p:nvSpPr>
        <p:spPr>
          <a:xfrm>
            <a:off x="8229600" y="3310128"/>
            <a:ext cx="3429000" cy="1051560"/>
          </a:xfrm>
          <a:prstGeom prst="roundRect">
            <a:avLst>
              <a:gd name="adj" fmla="val 8696"/>
            </a:avLst>
          </a:prstGeom>
          <a:solidFill>
            <a:srgbClr val="EAF0E3"/>
          </a:solidFill>
          <a:ln w="12700">
            <a:solidFill>
              <a:srgbClr val="EA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3374136"/>
            <a:ext cx="3108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2E26"/>
                </a:solidFill>
              </a:rPr>
              <a:t>사우나·목욕탕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5F7F25"/>
                </a:solidFill>
              </a:rPr>
              <a:t>강원 +15% · 외지 +47%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비 오는 날 실내로 이동</a:t>
            </a:r>
            <a:endParaRPr lang="en-US" sz="1400" dirty="0"/>
          </a:p>
        </p:txBody>
      </p:sp>
      <p:sp>
        <p:nvSpPr>
          <p:cNvPr id="16" name="sub card 3"/>
          <p:cNvSpPr/>
          <p:nvPr/>
        </p:nvSpPr>
        <p:spPr>
          <a:xfrm>
            <a:off x="8229600" y="4471416"/>
            <a:ext cx="3429000" cy="1051560"/>
          </a:xfrm>
          <a:prstGeom prst="roundRect">
            <a:avLst>
              <a:gd name="adj" fmla="val 8696"/>
            </a:avLst>
          </a:prstGeom>
          <a:solidFill>
            <a:srgbClr val="EAF0E3"/>
          </a:solidFill>
          <a:ln w="12700">
            <a:solidFill>
              <a:srgbClr val="EAF0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0" y="4535424"/>
            <a:ext cx="3108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2E26"/>
                </a:solidFill>
              </a:rPr>
              <a:t>헬스장·스포츠시설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17069"/>
                </a:solidFill>
              </a:rPr>
              <a:t>외지 고객 10%~32%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주민 이용 시설은 영향 없음</a:t>
            </a:r>
            <a:endParaRPr lang="en-US" sz="1400" dirty="0"/>
          </a:p>
        </p:txBody>
      </p:sp>
      <p:sp>
        <p:nvSpPr>
          <p:cNvPr id="18" name="footnote"/>
          <p:cNvSpPr txBox="1"/>
          <p:nvPr/>
        </p:nvSpPr>
        <p:spPr>
          <a:xfrm>
            <a:off x="8229600" y="55778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17069"/>
                </a:solidFill>
              </a:rPr>
              <a:t>사우나 증가는 기온 통제 방식을 바꿔도 +18% (p = 0.001). 강원 = 강원도 거주(춘천 밖 포함)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92E26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부록 A · 사용 컬럼과 선택 이유</a:t>
            </a:r>
            <a:endParaRPr lang="en-US" sz="2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17069"/>
                </a:solidFill>
              </a:rPr>
              <a:t>인사이트 2 분석에 쓴 컬럼, 비 피해율 정의, 통제 변수</a:t>
            </a:r>
            <a:endParaRPr lang="en-US" sz="1300" dirty="0"/>
          </a:p>
        </p:txBody>
      </p:sp>
      <p:graphicFrame>
        <p:nvGraphicFramePr>
          <p:cNvPr id="5" name="colum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040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3200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컬럼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E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E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이 분석에서 쓴 이유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TA_YMD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결제일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일별 기상 관측과 날짜로 1:1 연결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MCT_RY_CD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가맹점 업종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업종군 12개, 레저·숙박 세부 업종 9개를 직접 비교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TS_AT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결제 금액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피해를 매출 금액으로 보기 위해 사용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CLN_SGG_CD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고객 거주 시도 (데이터2)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외지 관광객과 강원 고객을 나눠 누가 빠지는지 확인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일강수량 · 기온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기상청 ASOS 춘천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92E26"/>
                          </a:solidFill>
                        </a:rPr>
                        <a:t>비 10mm+ 여부, 기온 효과 통제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069"/>
                </a:solidFill>
              </a:rPr>
              <a:t>법인 결제와 비상권 업종 13개는 제외 (전처리 장 참고)</a:t>
            </a:r>
            <a:endParaRPr lang="en-US" sz="1200" dirty="0"/>
          </a:p>
        </p:txBody>
      </p:sp>
      <p:sp>
        <p:nvSpPr>
          <p:cNvPr id="6" name="definition card"/>
          <p:cNvSpPr/>
          <p:nvPr/>
        </p:nvSpPr>
        <p:spPr>
          <a:xfrm>
            <a:off x="8046720" y="1691640"/>
            <a:ext cx="3611880" cy="3886200"/>
          </a:xfrm>
          <a:prstGeom prst="roundRect">
            <a:avLst>
              <a:gd name="adj" fmla="val 2532"/>
            </a:avLst>
          </a:prstGeom>
          <a:solidFill>
            <a:srgbClr val="EAF0E3"/>
          </a:solidFill>
          <a:ln w="12700">
            <a:solidFill>
              <a:srgbClr val="EAF0E3"/>
            </a:solidFill>
            <a:prstDash val="solid"/>
          </a:ln>
        </p:spPr>
      </p:sp>
      <p:sp>
        <p:nvSpPr>
          <p:cNvPr id="7" name="step 1"/>
          <p:cNvSpPr/>
          <p:nvPr/>
        </p:nvSpPr>
        <p:spPr>
          <a:xfrm>
            <a:off x="8275320" y="1920240"/>
            <a:ext cx="457200" cy="457200"/>
          </a:xfrm>
          <a:prstGeom prst="ellipse">
            <a:avLst/>
          </a:prstGeom>
          <a:solidFill>
            <a:srgbClr val="4A6E52"/>
          </a:solidFill>
          <a:ln w="12700">
            <a:solidFill>
              <a:srgbClr val="4A6E5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8745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2E26"/>
                </a:solidFill>
              </a:rPr>
              <a:t>비 피해율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비 10mm+ 온 날의 매출 변화 (비 안 온 날 대비)</a:t>
            </a:r>
            <a:endParaRPr lang="en-US" sz="1500" dirty="0"/>
          </a:p>
        </p:txBody>
      </p:sp>
      <p:sp>
        <p:nvSpPr>
          <p:cNvPr id="10" name="step 2"/>
          <p:cNvSpPr/>
          <p:nvPr/>
        </p:nvSpPr>
        <p:spPr>
          <a:xfrm>
            <a:off x="8275320" y="3108960"/>
            <a:ext cx="457200" cy="457200"/>
          </a:xfrm>
          <a:prstGeom prst="ellipse">
            <a:avLst/>
          </a:prstGeom>
          <a:solidFill>
            <a:srgbClr val="4A6E52"/>
          </a:solidFill>
          <a:ln w="12700">
            <a:solidFill>
              <a:srgbClr val="4A6E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0632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2E26"/>
                </a:solidFill>
              </a:rPr>
              <a:t>같이 통제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같은 주 · 요일 · 공휴일(추석 연휴) · 폭염. 강건성 확인으로 기온 연속값 통제도 함께</a:t>
            </a:r>
            <a:endParaRPr lang="en-US" sz="1500" dirty="0"/>
          </a:p>
        </p:txBody>
      </p:sp>
      <p:sp>
        <p:nvSpPr>
          <p:cNvPr id="13" name="step 3"/>
          <p:cNvSpPr/>
          <p:nvPr/>
        </p:nvSpPr>
        <p:spPr>
          <a:xfrm>
            <a:off x="8275320" y="4297680"/>
            <a:ext cx="457200" cy="457200"/>
          </a:xfrm>
          <a:prstGeom prst="ellipse">
            <a:avLst/>
          </a:prstGeom>
          <a:solidFill>
            <a:srgbClr val="4A6E52"/>
          </a:solidFill>
          <a:ln w="12700">
            <a:solidFill>
              <a:srgbClr val="4A6E5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753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42519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2E26"/>
                </a:solidFill>
              </a:rPr>
              <a:t>회복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92E26"/>
                </a:solidFill>
              </a:rPr>
              <a:t>비 온 뒤 1~3일 효과까지 더한 누적 변화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92E26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Green">
  <a:themeElements>
    <a:clrScheme name="Team Green">
      <a:dk1>
        <a:srgbClr val="192E26"/>
      </a:dk1>
      <a:lt1>
        <a:srgbClr val="FFFFFF"/>
      </a:lt1>
      <a:dk2>
        <a:srgbClr val="4A6E52"/>
      </a:dk2>
      <a:lt2>
        <a:srgbClr val="F6F9F1"/>
      </a:lt2>
      <a:accent1>
        <a:srgbClr val="4A6E52"/>
      </a:accent1>
      <a:accent2>
        <a:srgbClr val="96A89C"/>
      </a:accent2>
      <a:accent3>
        <a:srgbClr val="BAD666"/>
      </a:accent3>
      <a:accent4>
        <a:srgbClr val="9DBB45"/>
      </a:accent4>
      <a:accent5>
        <a:srgbClr val="617069"/>
      </a:accent5>
      <a:accent6>
        <a:srgbClr val="D5DDD1"/>
      </a:accent6>
      <a:hlink>
        <a:srgbClr val="4A6E52"/>
      </a:hlink>
      <a:folHlink>
        <a:srgbClr val="617069"/>
      </a:folHlink>
    </a:clrScheme>
    <a:fontScheme name="Team Gree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인사이트 2 — 춘천 레저·숙박의 비 피해</dc:title>
  <dc:subject>PptxGenJS Presentation</dc:subject>
  <dc:creator>PptxGenJS</dc:creator>
  <cp:lastModifiedBy>PptxGenJS</cp:lastModifiedBy>
  <cp:revision>1</cp:revision>
  <dcterms:created xsi:type="dcterms:W3CDTF">2026-10-24T12:14:55Z</dcterms:created>
  <dcterms:modified xsi:type="dcterms:W3CDTF">2026-10-24T12:14:55Z</dcterms:modified>
</cp:coreProperties>
</file>